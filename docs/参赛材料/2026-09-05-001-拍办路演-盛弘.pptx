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2" Target="viewProps.xml" Type="http://schemas.openxmlformats.org/officeDocument/2006/relationships/viewProps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1E2D5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649980" y="1419225"/>
            <a:ext cx="5067300" cy="1209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6600" spc="300">
                <a:solidFill>
                  <a:srgbClr val="F7F3E9"/>
                </a:solidFill>
                <a:latin typeface="Songti SC"/>
                <a:ea typeface="Songti SC"/>
                <a:cs typeface="Songti SC"/>
                <a:sym typeface="Songti SC"/>
              </a:rPr>
              <a:t>拍办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562350" y="2684145"/>
            <a:ext cx="5067300" cy="257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650" spc="75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PAIBAN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649980" y="3305175"/>
            <a:ext cx="5067300" cy="5143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ctr" marL="0" indent="0">
              <a:lnSpc>
                <a:spcPct val="150000"/>
              </a:lnSpc>
              <a:defRPr/>
            </a:pPr>
            <a:r>
              <a:rPr lang="en-US" b="true" i="false" strike="noStrike" u="none" sz="2250">
                <a:solidFill>
                  <a:srgbClr val="F7F3E9"/>
                </a:solidFill>
                <a:latin typeface="Songti SC"/>
                <a:ea typeface="Songti SC"/>
                <a:cs typeface="Songti SC"/>
                <a:sym typeface="Songti SC"/>
              </a:rPr>
              <a:t>你拍板，AI 办事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508375" y="3990975"/>
            <a:ext cx="5067300" cy="333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ctr" marL="0" indent="0">
              <a:lnSpc>
                <a:spcPct val="158333"/>
              </a:lnSpc>
              <a:defRPr/>
            </a:pPr>
            <a:r>
              <a:rPr lang="en-US" b="false" i="false" strike="noStrike" u="none" sz="1350">
                <a:solidFill>
                  <a:srgbClr val="8E97AD"/>
                </a:solidFill>
                <a:latin typeface="微软雅黑"/>
                <a:ea typeface="微软雅黑"/>
                <a:cs typeface="微软雅黑"/>
                <a:sym typeface="微软雅黑"/>
              </a:rPr>
              <a:t>人 + 个人专属 Agent 的协作新范式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565775" y="4566285"/>
            <a:ext cx="952500" cy="28575"/>
          </a:xfrm>
          <a:prstGeom prst="rect">
            <a:avLst/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508375" y="4878070"/>
            <a:ext cx="50673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125">
                <a:solidFill>
                  <a:srgbClr val="8E97AD"/>
                </a:solidFill>
                <a:latin typeface="微软雅黑"/>
                <a:ea typeface="微软雅黑"/>
                <a:cs typeface="微软雅黑"/>
                <a:sym typeface="微软雅黑"/>
              </a:rPr>
              <a:t>拍办团队 ·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7F3E9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381000"/>
            <a:ext cx="106680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50" spc="4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01 · 问题真实性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85800"/>
            <a:ext cx="10668000" cy="571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2850">
                <a:solidFill>
                  <a:srgbClr val="1E2D50"/>
                </a:solidFill>
                <a:latin typeface="Songti SC"/>
                <a:ea typeface="Songti SC"/>
                <a:cs typeface="Songti SC"/>
                <a:sym typeface="Songti SC"/>
              </a:rPr>
              <a:t>打断，是办公室里最贵的成本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52550"/>
            <a:ext cx="609600" cy="38100"/>
          </a:xfrm>
          <a:prstGeom prst="rect">
            <a:avLst/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90700"/>
            <a:ext cx="43815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5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409700" y="1790700"/>
            <a:ext cx="4724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找人靠等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409700" y="2076450"/>
            <a:ext cx="4724400" cy="2952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20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消息发出去，不知道对方什么时候看、看没看到，急事只能再去打电话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847975"/>
            <a:ext cx="5495925" cy="9525"/>
          </a:xfrm>
          <a:prstGeom prst="rect">
            <a:avLst/>
          </a:pr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333750"/>
            <a:ext cx="4191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5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390650" y="3333750"/>
            <a:ext cx="48672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开会靠凑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90650" y="3619500"/>
            <a:ext cx="4867275" cy="590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rmAutofit lnSpcReduction="0"/>
          </a:bodyPr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20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8 个人的会只有 2 个人必须到场，其余 6 个人陪坐一小时，只为等一句结论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381500"/>
            <a:ext cx="5495925" cy="9525"/>
          </a:xfrm>
          <a:prstGeom prst="rect">
            <a:avLst/>
          </a:pr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867275"/>
            <a:ext cx="43815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5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409700" y="4867275"/>
            <a:ext cx="4572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对齐靠刷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409700" y="5153025"/>
            <a:ext cx="4572000" cy="2952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20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信息散在十几个群聊里，下班翻记录翻到深夜，还是漏掉了关键变更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734175" y="1619250"/>
            <a:ext cx="9525" cy="4000500"/>
          </a:xfrm>
          <a:prstGeom prst="rect">
            <a:avLst/>
          </a:pr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219950" y="1619250"/>
            <a:ext cx="3895725" cy="781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465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57</a:t>
            </a:r>
            <a:r>
              <a:rPr lang="en-US" b="true" i="false" strike="noStrike" u="none" sz="180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219950" y="2438400"/>
            <a:ext cx="3895725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05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工作时间被沟通协作吃掉，过半时间没花在做事上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219950" y="3086100"/>
            <a:ext cx="3895725" cy="781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465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lang="en-US" b="true" i="false" strike="noStrike" u="none" sz="180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 分钟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219950" y="3905250"/>
            <a:ext cx="3895725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05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被打断的平均间隔，深度工作成为奢侈品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219950" y="4552950"/>
            <a:ext cx="3895725" cy="781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465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275</a:t>
            </a:r>
            <a:r>
              <a:rPr lang="en-US" b="true" i="false" strike="noStrike" u="none" sz="180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 条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219950" y="5372100"/>
            <a:ext cx="3895725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05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日均通知量，每一条都在争夺你的注意力</a:t>
            </a:r>
            <a:endParaRPr lang="en-US" sz="1100"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762000" y="5619750"/>
            <a:ext cx="10668000" cy="9525"/>
          </a:xfrm>
          <a:custGeom>
            <a:avLst/>
            <a:gdLst/>
            <a:ahLst/>
            <a:cxnLst/>
            <a:rect r="r" b="b" t="t" l="l"/>
            <a:pathLst>
              <a:path h="9525" w="10668000">
                <a:moveTo>
                  <a:pt x="0" y="0"/>
                </a:moveTo>
                <a:lnTo>
                  <a:pt x="10668000" y="0"/>
                </a:lnTo>
                <a:lnTo>
                  <a:pt x="10668000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5791200"/>
            <a:ext cx="86296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75">
                <a:solidFill>
                  <a:srgbClr val="9A9484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数据来源：Microsoft Work Trend Index 2023（沟通时间占比，覆盖 31 国 3.1 万受访者）；Microsoft Work Trend Index 2025（打断频率、日均通知量）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1010900" y="5791200"/>
            <a:ext cx="41910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75">
                <a:solidFill>
                  <a:srgbClr val="9A9484"/>
                </a:solidFill>
                <a:latin typeface="微软雅黑"/>
                <a:ea typeface="微软雅黑"/>
                <a:cs typeface="微软雅黑"/>
                <a:sym typeface="微软雅黑"/>
              </a:rPr>
              <a:t>02 / 10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7F3E9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381000"/>
            <a:ext cx="106680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50" spc="4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02 · 产品方案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85800"/>
            <a:ext cx="10668000" cy="571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2850">
                <a:solidFill>
                  <a:srgbClr val="1E2D50"/>
                </a:solidFill>
                <a:latin typeface="Songti SC"/>
                <a:ea typeface="Songti SC"/>
                <a:cs typeface="Songti SC"/>
                <a:sym typeface="Songti SC"/>
              </a:rPr>
              <a:t>人只做三件事：定方向、做决策、批审批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52550"/>
            <a:ext cx="609600" cy="38100"/>
          </a:xfrm>
          <a:prstGeom prst="rect">
            <a:avLst/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009900" y="1828800"/>
            <a:ext cx="1076325" cy="390525"/>
          </a:xfrm>
          <a:prstGeom prst="roundRect">
            <a:avLst>
              <a:gd name="adj" fmla="val 14634"/>
            </a:avLst>
          </a:prstGeom>
          <a:solidFill>
            <a:srgbClr val="1E2D5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219450" y="1924050"/>
            <a:ext cx="657225" cy="20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F7F3E9"/>
                </a:solidFill>
                <a:latin typeface="微软雅黑"/>
                <a:ea typeface="微软雅黑"/>
                <a:cs typeface="微软雅黑"/>
                <a:sym typeface="微软雅黑"/>
              </a:rPr>
              <a:t>你 · 拍板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219575" y="1895475"/>
            <a:ext cx="104775" cy="257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5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⇄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57700" y="1828800"/>
            <a:ext cx="1295400" cy="390525"/>
          </a:xfrm>
          <a:prstGeom prst="roundRect">
            <a:avLst>
              <a:gd name="adj" fmla="val 14634"/>
            </a:avLst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67250" y="1924050"/>
            <a:ext cx="876300" cy="20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你的 Agent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886450" y="1895475"/>
            <a:ext cx="104775" cy="257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5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⇄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124575" y="1828800"/>
            <a:ext cx="1457325" cy="390525"/>
          </a:xfrm>
          <a:prstGeom prst="roundRect">
            <a:avLst>
              <a:gd name="adj" fmla="val 14634"/>
            </a:avLst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34125" y="1924050"/>
            <a:ext cx="1038225" cy="20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同事的 Agent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715250" y="1895475"/>
            <a:ext cx="104775" cy="257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5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⇄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53375" y="1828800"/>
            <a:ext cx="1238250" cy="390525"/>
          </a:xfrm>
          <a:prstGeom prst="roundRect">
            <a:avLst>
              <a:gd name="adj" fmla="val 14634"/>
            </a:avLst>
          </a:prstGeom>
          <a:solidFill>
            <a:srgbClr val="1E2D5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62925" y="1924050"/>
            <a:ext cx="819150" cy="20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F7F3E9"/>
                </a:solidFill>
                <a:latin typeface="微软雅黑"/>
                <a:ea typeface="微软雅黑"/>
                <a:cs typeface="微软雅黑"/>
                <a:sym typeface="微软雅黑"/>
              </a:rPr>
              <a:t>同事 · 拍板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2343150"/>
            <a:ext cx="10668000" cy="161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050">
                <a:solidFill>
                  <a:srgbClr val="9A9484"/>
                </a:solidFill>
                <a:latin typeface="微软雅黑"/>
                <a:ea typeface="微软雅黑"/>
                <a:cs typeface="微软雅黑"/>
                <a:sym typeface="微软雅黑"/>
              </a:rPr>
              <a:t>人 + 个人专属 Agent = 最小协作单元；Agent ↔ Agent 是默认通道，人只接收「必须拍板」的事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2638425"/>
            <a:ext cx="3400425" cy="2247900"/>
          </a:xfrm>
          <a:prstGeom prst="roundRect">
            <a:avLst>
              <a:gd name="adj" fmla="val 338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8D2C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2790825"/>
            <a:ext cx="3019425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125" spc="1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场景一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52500" y="3076575"/>
            <a:ext cx="3019425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7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先 Agent，后找人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52500" y="3438525"/>
            <a:ext cx="3019425" cy="571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rmAutofit lnSpcReduction="0"/>
          </a:bodyPr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125">
                <a:solidFill>
                  <a:srgbClr val="9A9484"/>
                </a:solidFill>
                <a:latin typeface="微软雅黑"/>
                <a:ea typeface="微软雅黑"/>
                <a:cs typeface="微软雅黑"/>
                <a:sym typeface="微软雅黑"/>
              </a:rPr>
              <a:t>传统方式：消息直达本人，对方被打断，你干等回复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52500" y="4124325"/>
            <a:ext cx="3019425" cy="571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rmAutofit lnSpcReduction="0"/>
          </a:bodyPr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true" i="false" strike="noStrike" u="none" sz="112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拍办方式：</a:t>
            </a: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消息先给同事的 Agent——能答的当场答，答不了的才带着上下文打扰人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391025" y="2638425"/>
            <a:ext cx="3409950" cy="2247900"/>
          </a:xfrm>
          <a:prstGeom prst="roundRect">
            <a:avLst>
              <a:gd name="adj" fmla="val 338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8D2C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581525" y="2790825"/>
            <a:ext cx="30289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125" spc="1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场景二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581525" y="3076575"/>
            <a:ext cx="302895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7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同步会不开，决策会先撮合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581525" y="3438525"/>
            <a:ext cx="302895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125">
                <a:solidFill>
                  <a:srgbClr val="9A9484"/>
                </a:solidFill>
                <a:latin typeface="微软雅黑"/>
                <a:ea typeface="微软雅黑"/>
                <a:cs typeface="微软雅黑"/>
                <a:sym typeface="微软雅黑"/>
              </a:rPr>
              <a:t>传统方式：拉群约时间，8 个人陪坐 1 小时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581525" y="3838575"/>
            <a:ext cx="3028950" cy="571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rmAutofit lnSpcReduction="0"/>
          </a:bodyPr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true" i="false" strike="noStrike" u="none" sz="112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拍办方式：</a:t>
            </a: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Agent 之间先对齐议程与材料，只把必须拍板的人请进会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029575" y="2638425"/>
            <a:ext cx="3400425" cy="2247900"/>
          </a:xfrm>
          <a:prstGeom prst="roundRect">
            <a:avLst>
              <a:gd name="adj" fmla="val 338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8D2C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220075" y="2790825"/>
            <a:ext cx="3019425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125" spc="1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场景三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220075" y="3076575"/>
            <a:ext cx="3019425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7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异步工作池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220075" y="3438525"/>
            <a:ext cx="3019425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125">
                <a:solidFill>
                  <a:srgbClr val="9A9484"/>
                </a:solidFill>
                <a:latin typeface="微软雅黑"/>
                <a:ea typeface="微软雅黑"/>
                <a:cs typeface="微软雅黑"/>
                <a:sym typeface="微软雅黑"/>
              </a:rPr>
              <a:t>传统方式：进展散在群聊里，靠刷记录对齐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220075" y="3838575"/>
            <a:ext cx="3019425" cy="571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rmAutofit lnSpcReduction="0"/>
          </a:bodyPr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true" i="false" strike="noStrike" u="none" sz="112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拍办方式：</a:t>
            </a: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所有信息在线沉淀，Agent 之间自动对齐进度，例外才上浮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62000" y="5105400"/>
            <a:ext cx="38100" cy="323850"/>
          </a:xfrm>
          <a:prstGeom prst="rect">
            <a:avLst/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952500" y="5143500"/>
            <a:ext cx="4400550" cy="257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1E2D50"/>
                </a:solidFill>
                <a:latin typeface="Songti SC"/>
                <a:ea typeface="Songti SC"/>
                <a:cs typeface="Songti SC"/>
                <a:sym typeface="Songti SC"/>
              </a:rPr>
              <a:t>拍板权永远在人手里，跑腿事全部交给 Agent。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11010900" y="5581650"/>
            <a:ext cx="41910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75">
                <a:solidFill>
                  <a:srgbClr val="9A9484"/>
                </a:solidFill>
                <a:latin typeface="微软雅黑"/>
                <a:ea typeface="微软雅黑"/>
                <a:cs typeface="微软雅黑"/>
                <a:sym typeface="微软雅黑"/>
              </a:rPr>
              <a:t>03 / 10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7F3E9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381000"/>
            <a:ext cx="106680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50" spc="4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03 · 现场演示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85800"/>
            <a:ext cx="10668000" cy="571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2850">
                <a:solidFill>
                  <a:srgbClr val="1E2D50"/>
                </a:solidFill>
                <a:latin typeface="Songti SC"/>
                <a:ea typeface="Songti SC"/>
                <a:cs typeface="Songti SC"/>
                <a:sym typeface="Songti SC"/>
              </a:rPr>
              <a:t>90 秒，看 Agent 替你开完一个会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52550"/>
            <a:ext cx="609600" cy="38100"/>
          </a:xfrm>
          <a:prstGeom prst="rect">
            <a:avLst/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838325" y="2228850"/>
            <a:ext cx="12858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50">
                <a:solidFill>
                  <a:srgbClr val="1E2D50"/>
                </a:solidFill>
                <a:latin typeface="Georgia"/>
                <a:ea typeface="Georgia"/>
                <a:cs typeface="Georgia"/>
                <a:sym typeface="Georgia"/>
              </a:rPr>
              <a:t>0 – 30 秒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267325" y="2228850"/>
            <a:ext cx="14763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50">
                <a:solidFill>
                  <a:srgbClr val="1E2D50"/>
                </a:solidFill>
                <a:latin typeface="Georgia"/>
                <a:ea typeface="Georgia"/>
                <a:cs typeface="Georgia"/>
                <a:sym typeface="Georgia"/>
              </a:rPr>
              <a:t>30 – 60 秒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86825" y="2228850"/>
            <a:ext cx="14763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50">
                <a:solidFill>
                  <a:srgbClr val="1E2D50"/>
                </a:solidFill>
                <a:latin typeface="Georgia"/>
                <a:ea typeface="Georgia"/>
                <a:cs typeface="Georgia"/>
                <a:sym typeface="Georgia"/>
              </a:rPr>
              <a:t>60 – 90 秒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076450" y="3067050"/>
            <a:ext cx="723900" cy="219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2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分屏对比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76300" y="3362325"/>
            <a:ext cx="3124200" cy="5143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rmAutofit lnSpcReduction="0"/>
          </a:bodyPr>
          <a:lstStyle/>
          <a:p>
            <a:pPr algn="ctr" marL="0" indent="0">
              <a:lnSpc>
                <a:spcPct val="158333"/>
              </a:lnSpc>
              <a:defRPr/>
            </a:pPr>
            <a:r>
              <a:rPr lang="en-US" b="false" i="false" strike="noStrike" u="none" sz="105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左边传统方式：群里 @全员，等回复；右边拍办：消息先进同事的 Agent，秒回初步结论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524500" y="3067050"/>
            <a:ext cx="1152525" cy="219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2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Agent 间磋商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33900" y="3362325"/>
            <a:ext cx="3124200" cy="5143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rmAutofit lnSpcReduction="0"/>
          </a:bodyPr>
          <a:lstStyle/>
          <a:p>
            <a:pPr algn="ctr" marL="0" indent="0">
              <a:lnSpc>
                <a:spcPct val="158333"/>
              </a:lnSpc>
              <a:defRPr/>
            </a:pPr>
            <a:r>
              <a:rPr lang="en-US" b="false" i="false" strike="noStrike" u="none" sz="105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现场两台电脑真实互发：双方 Agent 自动磋商议程、对齐各自掌握的材料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391650" y="3067050"/>
            <a:ext cx="723900" cy="219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2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人来拍板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91500" y="3362325"/>
            <a:ext cx="3124200" cy="5143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rmAutofit lnSpcReduction="0"/>
          </a:bodyPr>
          <a:lstStyle/>
          <a:p>
            <a:pPr algn="ctr" marL="0" indent="0">
              <a:lnSpc>
                <a:spcPct val="158333"/>
              </a:lnSpc>
              <a:defRPr/>
            </a:pPr>
            <a:r>
              <a:rPr lang="en-US" b="false" i="false" strike="noStrike" u="none" sz="105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撮合结果与决策建议送达本人，一键批准或驳回——全场最高光的一刻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572000"/>
            <a:ext cx="10668000" cy="838200"/>
          </a:xfrm>
          <a:prstGeom prst="roundRect">
            <a:avLst>
              <a:gd name="adj" fmla="val 9091"/>
            </a:avLst>
          </a:prstGeom>
          <a:solidFill>
            <a:srgbClr val="1E2D5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28700" y="4876800"/>
            <a:ext cx="12382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B8933E"/>
                </a:solidFill>
                <a:latin typeface="Songti SC"/>
                <a:ea typeface="Songti SC"/>
                <a:cs typeface="Songti SC"/>
                <a:sym typeface="Songti SC"/>
              </a:rPr>
              <a:t>演示保障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533650" y="4857750"/>
            <a:ext cx="8629650" cy="27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125">
                <a:solidFill>
                  <a:srgbClr val="F7F3E9"/>
                </a:solidFill>
                <a:latin typeface="微软雅黑"/>
                <a:ea typeface="微软雅黑"/>
                <a:cs typeface="微软雅黑"/>
                <a:sym typeface="微软雅黑"/>
              </a:rPr>
              <a:t>双机互发，真实通信不放录播 ｜ 本地热点组网，不依赖现场 Wi-Fi ｜ 离线模型自动降级，断网也能完整演示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1010900" y="5534025"/>
            <a:ext cx="41910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75">
                <a:solidFill>
                  <a:srgbClr val="9A9484"/>
                </a:solidFill>
                <a:latin typeface="微软雅黑"/>
                <a:ea typeface="微软雅黑"/>
                <a:cs typeface="微软雅黑"/>
                <a:sym typeface="微软雅黑"/>
              </a:rPr>
              <a:t>04 / 10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333500" y="2790825"/>
            <a:ext cx="9525000" cy="19050"/>
          </a:xfrm>
          <a:prstGeom prst="rect">
            <a:avLst/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257425" y="27336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991225" y="27336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725025" y="27336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7F3E9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381000"/>
            <a:ext cx="106680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50" spc="4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04 · 技术与 AI 深度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85800"/>
            <a:ext cx="10668000" cy="571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2850">
                <a:solidFill>
                  <a:srgbClr val="1E2D50"/>
                </a:solidFill>
                <a:latin typeface="Songti SC"/>
                <a:ea typeface="Songti SC"/>
                <a:cs typeface="Songti SC"/>
                <a:sym typeface="Songti SC"/>
              </a:rPr>
              <a:t>一台电脑就能跑的多智能体系统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52550"/>
            <a:ext cx="609600" cy="38100"/>
          </a:xfrm>
          <a:prstGeom prst="rect">
            <a:avLst/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19250"/>
            <a:ext cx="57721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125" spc="1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系统架构 · 单进程局域网运行时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762000" y="2428875"/>
            <a:ext cx="5772150" cy="9525"/>
          </a:xfrm>
          <a:custGeom>
            <a:avLst/>
            <a:gdLst/>
            <a:ahLst/>
            <a:cxnLst/>
            <a:rect r="r" b="b" t="t" l="l"/>
            <a:pathLst>
              <a:path h="9525" w="5772150">
                <a:moveTo>
                  <a:pt x="0" y="0"/>
                </a:moveTo>
                <a:lnTo>
                  <a:pt x="5772150" y="0"/>
                </a:lnTo>
                <a:lnTo>
                  <a:pt x="5772150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105025"/>
            <a:ext cx="723900" cy="20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前端层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638300" y="2076450"/>
            <a:ext cx="4895850" cy="257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React 静态页面 · 浏览器即客户端，免安装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762000" y="3009900"/>
            <a:ext cx="5772150" cy="9525"/>
          </a:xfrm>
          <a:custGeom>
            <a:avLst/>
            <a:gdLst/>
            <a:ahLst/>
            <a:cxnLst/>
            <a:rect r="r" b="b" t="t" l="l"/>
            <a:pathLst>
              <a:path h="9525" w="5772150">
                <a:moveTo>
                  <a:pt x="0" y="0"/>
                </a:moveTo>
                <a:lnTo>
                  <a:pt x="5772150" y="0"/>
                </a:lnTo>
                <a:lnTo>
                  <a:pt x="5772150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2686050"/>
            <a:ext cx="723900" cy="20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服务层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638300" y="2657475"/>
            <a:ext cx="4895850" cy="257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单进程 FastAPI · WebSocket 实时推送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762000" y="3600450"/>
            <a:ext cx="5772150" cy="9525"/>
          </a:xfrm>
          <a:custGeom>
            <a:avLst/>
            <a:gdLst/>
            <a:ahLst/>
            <a:cxnLst/>
            <a:rect r="r" b="b" t="t" l="l"/>
            <a:pathLst>
              <a:path h="9525" w="5772150">
                <a:moveTo>
                  <a:pt x="0" y="0"/>
                </a:moveTo>
                <a:lnTo>
                  <a:pt x="5772150" y="0"/>
                </a:lnTo>
                <a:lnTo>
                  <a:pt x="5772150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276600"/>
            <a:ext cx="723900" cy="20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638300" y="3248025"/>
            <a:ext cx="4895850" cy="257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SQLite WAL 模式 · 单文件库，零运维</a:t>
            </a:r>
            <a:endParaRPr lang="en-US" sz="1100"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762000" y="4181475"/>
            <a:ext cx="5772150" cy="9525"/>
          </a:xfrm>
          <a:custGeom>
            <a:avLst/>
            <a:gdLst/>
            <a:ahLst/>
            <a:cxnLst/>
            <a:rect r="r" b="b" t="t" l="l"/>
            <a:pathLst>
              <a:path h="9525" w="5772150">
                <a:moveTo>
                  <a:pt x="0" y="0"/>
                </a:moveTo>
                <a:lnTo>
                  <a:pt x="5772150" y="0"/>
                </a:lnTo>
                <a:lnTo>
                  <a:pt x="5772150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857625"/>
            <a:ext cx="723900" cy="20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模型层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638300" y="3829050"/>
            <a:ext cx="4895850" cy="257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DeepSeek V4 Flash Vision · 多 Agent 并发调用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762000" y="4762500"/>
            <a:ext cx="5772150" cy="9525"/>
          </a:xfrm>
          <a:custGeom>
            <a:avLst/>
            <a:gdLst/>
            <a:ahLst/>
            <a:cxnLst/>
            <a:rect r="r" b="b" t="t" l="l"/>
            <a:pathLst>
              <a:path h="9525" w="5772150">
                <a:moveTo>
                  <a:pt x="0" y="0"/>
                </a:moveTo>
                <a:lnTo>
                  <a:pt x="5772150" y="0"/>
                </a:lnTo>
                <a:lnTo>
                  <a:pt x="5772150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438650"/>
            <a:ext cx="723900" cy="20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兜底层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638300" y="4410075"/>
            <a:ext cx="4895850" cy="257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离线自动降级 · 断网切换本地模型，功能不中断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953250" y="1619250"/>
            <a:ext cx="9525" cy="3143250"/>
          </a:xfrm>
          <a:prstGeom prst="rect">
            <a:avLst/>
          </a:pr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381875" y="1619250"/>
            <a:ext cx="38481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125" spc="1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多智能体工程深度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381875" y="2057400"/>
            <a:ext cx="3848100" cy="20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记忆隔离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381875" y="2286000"/>
            <a:ext cx="38481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05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每个 Agent 只看自己的上下文，防串话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381875" y="2800350"/>
            <a:ext cx="3848100" cy="20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撮合仲裁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381875" y="3028950"/>
            <a:ext cx="38481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05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多 Agent 意见冲突按规则裁决，防死锁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381875" y="3543300"/>
            <a:ext cx="3848100" cy="20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权责代码级固化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381875" y="3771900"/>
            <a:ext cx="38481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05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人能批什么写死在权限层，防越权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381875" y="4286250"/>
            <a:ext cx="3848100" cy="20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Token 成本治理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381875" y="4514850"/>
            <a:ext cx="38481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05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每次调用计量限额，防成本失控</a:t>
            </a:r>
            <a:endParaRPr lang="en-US" sz="1100"/>
          </a:p>
        </p:txBody>
      </p:sp>
      <p:sp>
        <p:nvSpPr>
          <p:cNvPr name="Freeform 32" id="32"/>
          <p:cNvSpPr/>
          <p:nvPr/>
        </p:nvSpPr>
        <p:spPr>
          <a:xfrm rot="0" flipH="false" flipV="false">
            <a:off x="762000" y="4876800"/>
            <a:ext cx="10668000" cy="9525"/>
          </a:xfrm>
          <a:custGeom>
            <a:avLst/>
            <a:gdLst/>
            <a:ahLst/>
            <a:cxnLst/>
            <a:rect r="r" b="b" t="t" l="l"/>
            <a:pathLst>
              <a:path h="9525" w="10668000">
                <a:moveTo>
                  <a:pt x="0" y="0"/>
                </a:moveTo>
                <a:lnTo>
                  <a:pt x="10668000" y="0"/>
                </a:lnTo>
                <a:lnTo>
                  <a:pt x="10668000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33" id="33"/>
          <p:cNvSpPr/>
          <p:nvPr/>
        </p:nvSpPr>
        <p:spPr>
          <a:xfrm rot="0" flipH="false" flipV="false">
            <a:off x="762000" y="5743575"/>
            <a:ext cx="10668000" cy="9525"/>
          </a:xfrm>
          <a:custGeom>
            <a:avLst/>
            <a:gdLst/>
            <a:ahLst/>
            <a:cxnLst/>
            <a:rect r="r" b="b" t="t" l="l"/>
            <a:pathLst>
              <a:path h="9525" w="10668000">
                <a:moveTo>
                  <a:pt x="0" y="0"/>
                </a:moveTo>
                <a:lnTo>
                  <a:pt x="10668000" y="0"/>
                </a:lnTo>
                <a:lnTo>
                  <a:pt x="10668000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2209800" y="5000625"/>
            <a:ext cx="8001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1 </a:t>
            </a:r>
            <a:r>
              <a:rPr lang="en-US" b="true" i="false" strike="noStrike" u="none" sz="135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条命令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1885950" y="5476875"/>
            <a:ext cx="1438275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7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python -m server 即启动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5667375" y="5000625"/>
            <a:ext cx="9525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8765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5581650" y="5476875"/>
            <a:ext cx="1114425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7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单端口承载全部服务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9486900" y="5000625"/>
            <a:ext cx="276225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943975" y="5476875"/>
            <a:ext cx="1362075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7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云端依赖，数据不出内网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11010900" y="5867400"/>
            <a:ext cx="41910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75">
                <a:solidFill>
                  <a:srgbClr val="9A9484"/>
                </a:solidFill>
                <a:latin typeface="微软雅黑"/>
                <a:ea typeface="微软雅黑"/>
                <a:cs typeface="微软雅黑"/>
                <a:sym typeface="微软雅黑"/>
              </a:rPr>
              <a:t>05 / 10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7F3E9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381000"/>
            <a:ext cx="106680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50" spc="4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05 · 价值与落地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85800"/>
            <a:ext cx="10668000" cy="571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2850">
                <a:solidFill>
                  <a:srgbClr val="1E2D50"/>
                </a:solidFill>
                <a:latin typeface="Songti SC"/>
                <a:ea typeface="Songti SC"/>
                <a:cs typeface="Songti SC"/>
                <a:sym typeface="Songti SC"/>
              </a:rPr>
              <a:t>谁先付钱，为什么付，怎么落地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52550"/>
            <a:ext cx="609600" cy="38100"/>
          </a:xfrm>
          <a:prstGeom prst="rect">
            <a:avLst/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762000" y="2733675"/>
            <a:ext cx="5124450" cy="9525"/>
          </a:xfrm>
          <a:custGeom>
            <a:avLst/>
            <a:gdLst/>
            <a:ahLst/>
            <a:cxnLst/>
            <a:rect r="r" b="b" t="t" l="l"/>
            <a:pathLst>
              <a:path h="9525" w="5124450">
                <a:moveTo>
                  <a:pt x="0" y="0"/>
                </a:moveTo>
                <a:lnTo>
                  <a:pt x="5124450" y="0"/>
                </a:lnTo>
                <a:lnTo>
                  <a:pt x="5124450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752600"/>
            <a:ext cx="51244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① </a:t>
            </a:r>
            <a:r>
              <a:rPr lang="en-US" b="true" i="false" strike="noStrike" u="none" sz="1350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5–20 人小团队 · 免费试点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038350"/>
            <a:ext cx="5124450" cy="552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rmAutofit lnSpcReduction="0"/>
          </a:bodyPr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目标用户就是我们自己这样的小团队，先免费用起来，用 dogfooding 换真实反馈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762000" y="3800475"/>
            <a:ext cx="5124450" cy="9525"/>
          </a:xfrm>
          <a:custGeom>
            <a:avLst/>
            <a:gdLst/>
            <a:ahLst/>
            <a:cxnLst/>
            <a:rect r="r" b="b" t="t" l="l"/>
            <a:pathLst>
              <a:path h="9525" w="5124450">
                <a:moveTo>
                  <a:pt x="0" y="0"/>
                </a:moveTo>
                <a:lnTo>
                  <a:pt x="5124450" y="0"/>
                </a:lnTo>
                <a:lnTo>
                  <a:pt x="5124450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095625"/>
            <a:ext cx="51244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② </a:t>
            </a:r>
            <a:r>
              <a:rPr lang="en-US" b="true" i="false" strike="noStrike" u="none" sz="1350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外部小队实测 · 数据说话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381375"/>
            <a:ext cx="5124450" cy="27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邀请 3–5 个真实团队跑两周，用「人均每日被打断次数」的前后对比证明价值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62425"/>
            <a:ext cx="51244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③ </a:t>
            </a:r>
            <a:r>
              <a:rPr lang="en-US" b="true" i="false" strike="noStrike" u="none" sz="1350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付费意愿探针 · 验证定价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448175"/>
            <a:ext cx="5124450" cy="27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以 99–199 元/席/月做付费测试，跑通从试用到付费的最后一公里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05550" y="1619250"/>
            <a:ext cx="9525" cy="3238500"/>
          </a:xfrm>
          <a:prstGeom prst="rect">
            <a:avLst/>
          </a:pr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734175" y="1619250"/>
            <a:ext cx="43815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125" spc="1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定价的一笔明白账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734175" y="2028825"/>
            <a:ext cx="4381500" cy="581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330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≈ 60 </a:t>
            </a:r>
            <a:r>
              <a:rPr lang="en-US" b="true" i="false" strike="noStrike" u="none" sz="135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元/小时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734175" y="2647950"/>
            <a:ext cx="4381500" cy="161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05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月薪一万元员工的平均时薪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34175" y="3057525"/>
            <a:ext cx="4381500" cy="581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330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120 </a:t>
            </a:r>
            <a:r>
              <a:rPr lang="en-US" b="true" i="false" strike="noStrike" u="none" sz="135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元/天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734175" y="3676650"/>
            <a:ext cx="4381500" cy="161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05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每天被打断浪费约 2 小时的成本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734175" y="4076700"/>
            <a:ext cx="4381500" cy="581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3300">
                <a:solidFill>
                  <a:srgbClr val="1E2D50"/>
                </a:solidFill>
                <a:latin typeface="Georgia"/>
                <a:ea typeface="Georgia"/>
                <a:cs typeface="Georgia"/>
                <a:sym typeface="Georgia"/>
              </a:rPr>
              <a:t>99–199 </a:t>
            </a:r>
            <a:r>
              <a:rPr lang="en-US" b="true" i="false" strike="noStrike" u="none" sz="1350">
                <a:solidFill>
                  <a:srgbClr val="1E2D50"/>
                </a:solidFill>
                <a:latin typeface="Georgia"/>
                <a:ea typeface="Georgia"/>
                <a:cs typeface="Georgia"/>
                <a:sym typeface="Georgia"/>
              </a:rPr>
              <a:t>元/席/月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734175" y="4695825"/>
            <a:ext cx="4381500" cy="161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05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拍办定价——不到两天的浪费成本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076825"/>
            <a:ext cx="38100" cy="323850"/>
          </a:xfrm>
          <a:prstGeom prst="rect">
            <a:avLst/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52500" y="5124450"/>
            <a:ext cx="6096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E2D50"/>
                </a:solidFill>
                <a:latin typeface="Songti SC"/>
                <a:ea typeface="Songti SC"/>
                <a:cs typeface="Songti SC"/>
                <a:sym typeface="Songti SC"/>
              </a:rPr>
              <a:t>落地零门槛：局域网一键启动，数据不出内网，小团队今天下午就能用。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1010900" y="5619750"/>
            <a:ext cx="41910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75">
                <a:solidFill>
                  <a:srgbClr val="9A9484"/>
                </a:solidFill>
                <a:latin typeface="微软雅黑"/>
                <a:ea typeface="微软雅黑"/>
                <a:cs typeface="微软雅黑"/>
                <a:sym typeface="微软雅黑"/>
              </a:rPr>
              <a:t>06 / 10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7F3E9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381000"/>
            <a:ext cx="106680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50" spc="4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06 · 创新与壁垒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85800"/>
            <a:ext cx="10668000" cy="571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2850">
                <a:solidFill>
                  <a:srgbClr val="1E2D50"/>
                </a:solidFill>
                <a:latin typeface="Songti SC"/>
                <a:ea typeface="Songti SC"/>
                <a:cs typeface="Songti SC"/>
                <a:sym typeface="Songti SC"/>
              </a:rPr>
              <a:t>巨头可以做功能，但做不了我们的指标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52550"/>
            <a:ext cx="609600" cy="38100"/>
          </a:xfrm>
          <a:prstGeom prst="rect">
            <a:avLst/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19250"/>
            <a:ext cx="5553075" cy="219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2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他们在优化「连接」，我们在优化「打断」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933575"/>
            <a:ext cx="5553075" cy="87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rmAutofit lnSpcReduction="0"/>
          </a:bodyPr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平台型产品的北极星指标是 DAU 与在线时长——让更多人更快地说更多话；而拍办的北极星指标是</a:t>
            </a:r>
            <a:r>
              <a:rPr lang="en-US" b="true" i="false" strike="noStrike" u="none" sz="112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「每人每天被打断次数下降多少」</a:t>
            </a: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。两个指标天然互斥：平台无法一边追求在线时长，一边帮用户少被打扰。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267075"/>
            <a:ext cx="5553075" cy="219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2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范式不同，不是功能不同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581400"/>
            <a:ext cx="5553075" cy="590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rmAutofit lnSpcReduction="0"/>
          </a:bodyPr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现有协作工具的默认通道是「人 ↔ 人」，AI 只是外挂助手；拍办的默认通道是「Agent ↔ Agent」，人从信息搬运工变回决策者——这是协作协议的换代，不是一个新功能。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629150"/>
            <a:ext cx="38100" cy="323850"/>
          </a:xfrm>
          <a:prstGeom prst="rect">
            <a:avLst/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33450" y="4667250"/>
            <a:ext cx="3000375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75">
                <a:solidFill>
                  <a:srgbClr val="1E2D50"/>
                </a:solidFill>
                <a:latin typeface="Songti SC"/>
                <a:ea typeface="Songti SC"/>
                <a:cs typeface="Songti SC"/>
                <a:sym typeface="Songti SC"/>
              </a:rPr>
              <a:t>巨头可以抄走功能，抄不走立场。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734175" y="1619250"/>
            <a:ext cx="9525" cy="3333750"/>
          </a:xfrm>
          <a:prstGeom prst="rect">
            <a:avLst/>
          </a:pr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162800" y="1619250"/>
            <a:ext cx="3952875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125" spc="1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赛道有多大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162800" y="1866900"/>
            <a:ext cx="3952875" cy="714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405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139 </a:t>
            </a:r>
            <a:r>
              <a:rPr lang="en-US" b="true" i="false" strike="noStrike" u="none" sz="150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亿元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162800" y="2619375"/>
            <a:ext cx="3952875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05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2025 年中国协同办公市场规模，盘子够大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162800" y="2943225"/>
            <a:ext cx="3952875" cy="9525"/>
          </a:xfrm>
          <a:prstGeom prst="rect">
            <a:avLst/>
          </a:pr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162800" y="3038475"/>
            <a:ext cx="3952875" cy="714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405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449 </a:t>
            </a:r>
            <a:r>
              <a:rPr lang="en-US" b="true" i="false" strike="noStrike" u="none" sz="150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亿元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162800" y="3790950"/>
            <a:ext cx="3952875" cy="4857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rmAutofit lnSpcReduction="0"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05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企业级 AI 智能体市场 2028 年预计规模（2024 年 212 亿，四年翻倍），增长够快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162800" y="4352925"/>
            <a:ext cx="3952875" cy="9525"/>
          </a:xfrm>
          <a:prstGeom prst="rect">
            <a:avLst/>
          </a:pr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162800" y="4438650"/>
            <a:ext cx="3952875" cy="5143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rmAutofit lnSpcReduction="0"/>
          </a:bodyPr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05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协作办公是存量红海，但</a:t>
            </a:r>
            <a:r>
              <a:rPr lang="en-US" b="true" i="false" strike="noStrike" u="none" sz="1050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「Agent 间协作」是尚未被定义的增量</a:t>
            </a:r>
            <a:r>
              <a:rPr lang="en-US" b="false" i="false" strike="noStrike" u="none" sz="105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——我们抢的是品类命名权。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1010900" y="5076825"/>
            <a:ext cx="41910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75">
                <a:solidFill>
                  <a:srgbClr val="9A9484"/>
                </a:solidFill>
                <a:latin typeface="微软雅黑"/>
                <a:ea typeface="微软雅黑"/>
                <a:cs typeface="微软雅黑"/>
                <a:sym typeface="微软雅黑"/>
              </a:rPr>
              <a:t>07 / 10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7F3E9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381000"/>
            <a:ext cx="106680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50" spc="4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07 · 验证与路线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85800"/>
            <a:ext cx="10668000" cy="571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2850">
                <a:solidFill>
                  <a:srgbClr val="1E2D50"/>
                </a:solidFill>
                <a:latin typeface="Songti SC"/>
                <a:ea typeface="Songti SC"/>
                <a:cs typeface="Songti SC"/>
                <a:sym typeface="Songti SC"/>
              </a:rPr>
              <a:t>三级验证，一级都不能少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52550"/>
            <a:ext cx="609600" cy="38100"/>
          </a:xfrm>
          <a:prstGeom prst="rect">
            <a:avLst/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762000" y="1619250"/>
            <a:ext cx="10668000" cy="438150"/>
          </a:xfrm>
          <a:custGeom>
            <a:avLst/>
            <a:gdLst/>
            <a:ahLst/>
            <a:cxnLst/>
            <a:rect r="r" b="b" t="t" l="l"/>
            <a:pathLst>
              <a:path h="438150" w="10668000">
                <a:moveTo>
                  <a:pt x="57150" y="0"/>
                </a:moveTo>
                <a:lnTo>
                  <a:pt x="10610850" y="0"/>
                </a:lnTo>
                <a:cubicBezTo>
                  <a:pt x="10639425" y="0"/>
                  <a:pt x="10668000" y="28575"/>
                  <a:pt x="10668000" y="57150"/>
                </a:cubicBezTo>
                <a:lnTo>
                  <a:pt x="10668000" y="438150"/>
                </a:lnTo>
                <a:lnTo>
                  <a:pt x="10668000" y="438150"/>
                </a:lnTo>
                <a:lnTo>
                  <a:pt x="0" y="438150"/>
                </a:lnTo>
                <a:lnTo>
                  <a:pt x="0" y="438150"/>
                </a:lnTo>
                <a:lnTo>
                  <a:pt x="0" y="57150"/>
                </a:lnTo>
                <a:cubicBezTo>
                  <a:pt x="0" y="28575"/>
                  <a:pt x="28575" y="0"/>
                  <a:pt x="57150" y="0"/>
                </a:cubicBezTo>
                <a:close/>
              </a:path>
            </a:pathLst>
          </a:custGeom>
          <a:solidFill>
            <a:srgbClr val="1E2D5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90600" y="1743075"/>
            <a:ext cx="22479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7F3E9"/>
                </a:solidFill>
                <a:latin typeface="微软雅黑"/>
                <a:ea typeface="微软雅黑"/>
                <a:cs typeface="微软雅黑"/>
                <a:sym typeface="微软雅黑"/>
              </a:rPr>
              <a:t>验证级别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238500" y="1743075"/>
            <a:ext cx="53054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7F3E9"/>
                </a:solidFill>
                <a:latin typeface="微软雅黑"/>
                <a:ea typeface="微软雅黑"/>
                <a:cs typeface="微软雅黑"/>
                <a:sym typeface="微软雅黑"/>
              </a:rPr>
              <a:t>做法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543925" y="1743075"/>
            <a:ext cx="26574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7F3E9"/>
                </a:solidFill>
                <a:latin typeface="微软雅黑"/>
                <a:ea typeface="微软雅黑"/>
                <a:cs typeface="微软雅黑"/>
                <a:sym typeface="微软雅黑"/>
              </a:rPr>
              <a:t>当前状态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762000" y="2638425"/>
            <a:ext cx="10668000" cy="9525"/>
          </a:xfrm>
          <a:custGeom>
            <a:avLst/>
            <a:gdLst/>
            <a:ahLst/>
            <a:cxnLst/>
            <a:rect r="r" b="b" t="t" l="l"/>
            <a:pathLst>
              <a:path h="9525" w="10668000">
                <a:moveTo>
                  <a:pt x="0" y="0"/>
                </a:moveTo>
                <a:lnTo>
                  <a:pt x="10668000" y="0"/>
                </a:lnTo>
                <a:lnTo>
                  <a:pt x="10668000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90600" y="2247900"/>
            <a:ext cx="2247900" cy="20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Dogfooding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238500" y="2209800"/>
            <a:ext cx="530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团队自己先用：日常协作全部走拍办，用自己的痛点打磨产品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543925" y="2257425"/>
            <a:ext cx="2657475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125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已跑通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762000" y="3219450"/>
            <a:ext cx="10668000" cy="9525"/>
          </a:xfrm>
          <a:custGeom>
            <a:avLst/>
            <a:gdLst/>
            <a:ahLst/>
            <a:cxnLst/>
            <a:rect r="r" b="b" t="t" l="l"/>
            <a:pathLst>
              <a:path h="9525" w="10668000">
                <a:moveTo>
                  <a:pt x="0" y="0"/>
                </a:moveTo>
                <a:lnTo>
                  <a:pt x="10668000" y="0"/>
                </a:lnTo>
                <a:lnTo>
                  <a:pt x="10668000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90600" y="2828925"/>
            <a:ext cx="2247900" cy="20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外部小队实测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238500" y="2790825"/>
            <a:ext cx="530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邀请 3–5 个真实团队试用两周，采集「人均每日被打断次数」前后对比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543925" y="2838450"/>
            <a:ext cx="2657475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125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进行中 · 赛前回填数据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762000" y="3800475"/>
            <a:ext cx="10668000" cy="9525"/>
          </a:xfrm>
          <a:custGeom>
            <a:avLst/>
            <a:gdLst/>
            <a:ahLst/>
            <a:cxnLst/>
            <a:rect r="r" b="b" t="t" l="l"/>
            <a:pathLst>
              <a:path h="9525" w="10668000">
                <a:moveTo>
                  <a:pt x="0" y="0"/>
                </a:moveTo>
                <a:lnTo>
                  <a:pt x="10668000" y="0"/>
                </a:lnTo>
                <a:lnTo>
                  <a:pt x="10668000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90600" y="3409950"/>
            <a:ext cx="2247900" cy="20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1E2D50"/>
                </a:solidFill>
                <a:latin typeface="微软雅黑"/>
                <a:ea typeface="微软雅黑"/>
                <a:cs typeface="微软雅黑"/>
                <a:sym typeface="微软雅黑"/>
              </a:rPr>
              <a:t>付费意愿探针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238500" y="3371850"/>
            <a:ext cx="530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以 99–199 元/席/月向试点团队报价，验证从试用到付费的转化率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543925" y="3419475"/>
            <a:ext cx="2657475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125">
                <a:solidFill>
                  <a:srgbClr val="9A9484"/>
                </a:solidFill>
                <a:latin typeface="微软雅黑"/>
                <a:ea typeface="微软雅黑"/>
                <a:cs typeface="微软雅黑"/>
                <a:sym typeface="微软雅黑"/>
              </a:rPr>
              <a:t>待启动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3971925"/>
            <a:ext cx="38100" cy="323850"/>
          </a:xfrm>
          <a:prstGeom prst="rect">
            <a:avLst/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52500" y="4010025"/>
            <a:ext cx="5800725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75">
                <a:solidFill>
                  <a:srgbClr val="1E2D50"/>
                </a:solidFill>
                <a:latin typeface="Songti SC"/>
                <a:ea typeface="Songti SC"/>
                <a:cs typeface="Songti SC"/>
                <a:sym typeface="Songti SC"/>
              </a:rPr>
              <a:t>今天现场演示的就是 v0 真实能力——不放录播，不放概念视频。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4486275"/>
            <a:ext cx="3429000" cy="62865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8D2C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14400" y="4581525"/>
            <a:ext cx="3124200" cy="161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赛前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14400" y="4772025"/>
            <a:ext cx="31242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05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完成 3–5 个团队实测，回填打断次数对比数据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381500" y="4486275"/>
            <a:ext cx="3429000" cy="62865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8D2C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533900" y="4581525"/>
            <a:ext cx="3124200" cy="161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赛后 1 个月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533900" y="4772025"/>
            <a:ext cx="31242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05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启动付费意愿探针，验证 99–199 元定价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001000" y="4486275"/>
            <a:ext cx="3429000" cy="62865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8D2C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153400" y="4581525"/>
            <a:ext cx="3124200" cy="161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赛后 3 个月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153400" y="4772025"/>
            <a:ext cx="31242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050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签约首批 5 个付费团队，跑通商业闭环</a:t>
            </a:r>
            <a:endParaRPr lang="en-US" sz="1100"/>
          </a:p>
        </p:txBody>
      </p:sp>
      <p:sp>
        <p:nvSpPr>
          <p:cNvPr name="Freeform 33" id="33"/>
          <p:cNvSpPr/>
          <p:nvPr/>
        </p:nvSpPr>
        <p:spPr>
          <a:xfrm rot="0" flipH="false" flipV="false">
            <a:off x="762000" y="5772150"/>
            <a:ext cx="10668000" cy="9525"/>
          </a:xfrm>
          <a:custGeom>
            <a:avLst/>
            <a:gdLst/>
            <a:ahLst/>
            <a:cxnLst/>
            <a:rect r="r" b="b" t="t" l="l"/>
            <a:pathLst>
              <a:path h="9525" w="10668000">
                <a:moveTo>
                  <a:pt x="0" y="0"/>
                </a:moveTo>
                <a:lnTo>
                  <a:pt x="10668000" y="0"/>
                </a:lnTo>
                <a:lnTo>
                  <a:pt x="10668000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11010900" y="5943600"/>
            <a:ext cx="41910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75">
                <a:solidFill>
                  <a:srgbClr val="9A9484"/>
                </a:solidFill>
                <a:latin typeface="微软雅黑"/>
                <a:ea typeface="微软雅黑"/>
                <a:cs typeface="微软雅黑"/>
                <a:sym typeface="微软雅黑"/>
              </a:rPr>
              <a:t>08 / 10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7F3E9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381000"/>
            <a:ext cx="106680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50" spc="4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08 · 团队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85800"/>
            <a:ext cx="10668000" cy="571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2850">
                <a:solidFill>
                  <a:srgbClr val="1E2D50"/>
                </a:solidFill>
                <a:latin typeface="Songti SC"/>
                <a:ea typeface="Songti SC"/>
                <a:cs typeface="Songti SC"/>
                <a:sym typeface="Songti SC"/>
              </a:rPr>
              <a:t>四个人，四条闭环：商业化、技术、体验、资本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52550"/>
            <a:ext cx="609600" cy="38100"/>
          </a:xfrm>
          <a:prstGeom prst="rect">
            <a:avLst/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19250"/>
            <a:ext cx="5229225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8D2C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90600" y="2200275"/>
            <a:ext cx="12573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950">
                <a:solidFill>
                  <a:srgbClr val="1E2D50"/>
                </a:solidFill>
                <a:latin typeface="Songti SC"/>
                <a:ea typeface="Songti SC"/>
                <a:cs typeface="Songti SC"/>
                <a:sym typeface="Songti SC"/>
              </a:rPr>
              <a:t>堡天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90600" y="2562225"/>
            <a:ext cx="1257300" cy="161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50" spc="1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CEO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438400" y="2000250"/>
            <a:ext cx="9525" cy="914400"/>
          </a:xfrm>
          <a:prstGeom prst="rect">
            <a:avLst/>
          </a:pr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638425" y="2019300"/>
            <a:ext cx="3124200" cy="87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rmAutofit lnSpcReduction="0"/>
          </a:bodyPr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产品经理出身，主导过市场化 GTM；做过 TO SaaS 的交付与售前工程师，当前在 3C 硬件行业负责商业化，负责拍办的方向与变现路径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00775" y="1619250"/>
            <a:ext cx="5229225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8D2C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29375" y="2200275"/>
            <a:ext cx="12573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950">
                <a:solidFill>
                  <a:srgbClr val="1E2D50"/>
                </a:solidFill>
                <a:latin typeface="Songti SC"/>
                <a:ea typeface="Songti SC"/>
                <a:cs typeface="Songti SC"/>
                <a:sym typeface="Songti SC"/>
              </a:rPr>
              <a:t>建城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29375" y="2562225"/>
            <a:ext cx="1257300" cy="161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50" spc="1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CTO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877175" y="2000250"/>
            <a:ext cx="9525" cy="914400"/>
          </a:xfrm>
          <a:prstGeom prst="rect">
            <a:avLst/>
          </a:pr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77200" y="2019300"/>
            <a:ext cx="3124200" cy="87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rmAutofit lnSpcReduction="0"/>
          </a:bodyPr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连续创业者，某 AI 创业公司联合创始人兼首席技术官，AI 全栈开发，负责拍办多智能体架构与工程落地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486150"/>
            <a:ext cx="5229225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8D2C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90600" y="4067175"/>
            <a:ext cx="12573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950">
                <a:solidFill>
                  <a:srgbClr val="1E2D50"/>
                </a:solidFill>
                <a:latin typeface="Songti SC"/>
                <a:ea typeface="Songti SC"/>
                <a:cs typeface="Songti SC"/>
                <a:sym typeface="Songti SC"/>
              </a:rPr>
              <a:t>书傲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90600" y="4429125"/>
            <a:ext cx="1257300" cy="161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50" spc="1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设计总监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438400" y="3867150"/>
            <a:ext cx="9525" cy="914400"/>
          </a:xfrm>
          <a:prstGeom prst="rect">
            <a:avLst/>
          </a:pr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638425" y="3886200"/>
            <a:ext cx="3124200" cy="87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rmAutofit lnSpcReduction="0"/>
          </a:bodyPr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参与多段数媒与交互相关项目，具备 3D 建模与打印、创意策划、视频文案与宣发的完整经验，负责产品体验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00775" y="3486150"/>
            <a:ext cx="5229225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8D2C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29375" y="4067175"/>
            <a:ext cx="12573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950">
                <a:solidFill>
                  <a:srgbClr val="1E2D50"/>
                </a:solidFill>
                <a:latin typeface="Songti SC"/>
                <a:ea typeface="Songti SC"/>
                <a:cs typeface="Songti SC"/>
                <a:sym typeface="Songti SC"/>
              </a:rPr>
              <a:t>盛弘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29375" y="4429125"/>
            <a:ext cx="1257300" cy="161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50" spc="150">
                <a:solidFill>
                  <a:srgbClr val="B8933E"/>
                </a:solidFill>
                <a:latin typeface="微软雅黑"/>
                <a:ea typeface="微软雅黑"/>
                <a:cs typeface="微软雅黑"/>
                <a:sym typeface="微软雅黑"/>
              </a:rPr>
              <a:t>融资总监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877175" y="3867150"/>
            <a:ext cx="9525" cy="914400"/>
          </a:xfrm>
          <a:prstGeom prst="rect">
            <a:avLst/>
          </a:prstGeom>
          <a:solidFill>
            <a:srgbClr val="D8D2C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077200" y="3886200"/>
            <a:ext cx="3124200" cy="87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rmAutofit lnSpcReduction="0"/>
          </a:bodyPr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125">
                <a:solidFill>
                  <a:srgbClr val="3A3A3A"/>
                </a:solidFill>
                <a:latin typeface="微软雅黑"/>
                <a:ea typeface="微软雅黑"/>
                <a:cs typeface="微软雅黑"/>
                <a:sym typeface="微软雅黑"/>
              </a:rPr>
              <a:t>曾任职某四大会计师事务所、某头部券商投行部，负责资本路径规划、融资推进与合规边界把控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5467350"/>
            <a:ext cx="38100" cy="323850"/>
          </a:xfrm>
          <a:prstGeom prst="rect">
            <a:avLst/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52500" y="5505450"/>
            <a:ext cx="4400550" cy="257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1E2D50"/>
                </a:solidFill>
                <a:latin typeface="Songti SC"/>
                <a:ea typeface="Songti SC"/>
                <a:cs typeface="Songti SC"/>
                <a:sym typeface="Songti SC"/>
              </a:rPr>
              <a:t>资历写在履历里，更写在已经跑起来的产品里。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1010900" y="6038850"/>
            <a:ext cx="41910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75">
                <a:solidFill>
                  <a:srgbClr val="9A9484"/>
                </a:solidFill>
                <a:latin typeface="微软雅黑"/>
                <a:ea typeface="微软雅黑"/>
                <a:cs typeface="微软雅黑"/>
                <a:sym typeface="微软雅黑"/>
              </a:rPr>
              <a:t>09 / 10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1E2D5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314950" y="1504950"/>
            <a:ext cx="1571625" cy="20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75" spc="300">
                <a:solidFill>
                  <a:srgbClr val="B8933E"/>
                </a:solidFill>
                <a:latin typeface="Georgia"/>
                <a:ea typeface="Georgia"/>
                <a:cs typeface="Georgia"/>
                <a:sym typeface="Georgia"/>
              </a:rPr>
              <a:t>你拍板 · AI 办事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762625" y="1952625"/>
            <a:ext cx="666750" cy="19050"/>
          </a:xfrm>
          <a:prstGeom prst="rect">
            <a:avLst/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371850" y="2219325"/>
            <a:ext cx="54483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ctr" marL="0" indent="0">
              <a:lnSpc>
                <a:spcPct val="150000"/>
              </a:lnSpc>
              <a:defRPr/>
            </a:pPr>
            <a:r>
              <a:rPr lang="en-US" b="true" i="false" strike="noStrike" u="none" sz="3900">
                <a:solidFill>
                  <a:srgbClr val="F7F3E9"/>
                </a:solidFill>
                <a:latin typeface="Songti SC"/>
                <a:ea typeface="Songti SC"/>
                <a:cs typeface="Songti SC"/>
                <a:sym typeface="Songti SC"/>
              </a:rPr>
              <a:t>让组织里的每个人，</a:t>
            </a:r>
            <a:endParaRPr lang="en-US" sz="1100"/>
          </a:p>
          <a:p>
            <a:pPr algn="ctr" marL="0" indent="0">
              <a:lnSpc>
                <a:spcPct val="150000"/>
              </a:lnSpc>
            </a:pPr>
            <a:r>
              <a:rPr lang="en-US" b="true" i="false" strike="noStrike" u="none" sz="3900">
                <a:solidFill>
                  <a:srgbClr val="F7F3E9"/>
                </a:solidFill>
                <a:latin typeface="Songti SC"/>
                <a:ea typeface="Songti SC"/>
                <a:cs typeface="Songti SC"/>
                <a:sym typeface="Songti SC"/>
              </a:rPr>
              <a:t>只被值得打断的事打断。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143375" y="4314825"/>
            <a:ext cx="3905250" cy="20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75">
                <a:solidFill>
                  <a:srgbClr val="8E97AD"/>
                </a:solidFill>
                <a:latin typeface="微软雅黑"/>
                <a:ea typeface="微软雅黑"/>
                <a:cs typeface="微软雅黑"/>
                <a:sym typeface="微软雅黑"/>
              </a:rPr>
              <a:t>拍办 Paiban —— 人 + 个人专属 Agent 的协作新范式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62625" y="4857750"/>
            <a:ext cx="666750" cy="19050"/>
          </a:xfrm>
          <a:prstGeom prst="rect">
            <a:avLst/>
          </a:prstGeom>
          <a:solidFill>
            <a:srgbClr val="B893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334000" y="5162550"/>
            <a:ext cx="1524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E97AD"/>
                </a:solidFill>
                <a:latin typeface="微软雅黑"/>
                <a:ea typeface="微软雅黑"/>
                <a:cs typeface="微软雅黑"/>
                <a:sym typeface="微软雅黑"/>
              </a:rPr>
              <a:t>谢谢各位评委，请指正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